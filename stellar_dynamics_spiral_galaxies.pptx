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8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11247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D700"/>
                </a:solidFill>
              </a:rPr>
              <a:t>Stellar Dynamics in Spiral Galaxies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10896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7BD3EA"/>
                </a:solidFill>
              </a:rPr>
              <a:t>Orbits · Phase Space · Chaos · Secular Evolution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749039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E8E8E8"/>
                </a:solidFill>
              </a:rPr>
              <a:t>45-minute lecture  |  22 slides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12648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888888"/>
                </a:solidFill>
              </a:rPr>
              <a:t>Based on Binney &amp; Tremaine, Galactic Dynamics (2nd ed.)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88888"/>
                </a:solidFill>
              </a:rPr>
              <a:t>1 / 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8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D700"/>
                </a:solidFill>
              </a:rPr>
              <a:t>Outline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600">
                <a:solidFill>
                  <a:srgbClr val="E8E8E8"/>
                </a:solidFill>
              </a:rPr>
              <a:t>1.  Hierarchical structure of the Universe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E8E8E8"/>
                </a:solidFill>
              </a:rPr>
              <a:t>2.  What is a galaxy?  Main components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E8E8E8"/>
                </a:solidFill>
              </a:rPr>
              <a:t>3.  Galaxy classification – the Hubble fork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E8E8E8"/>
                </a:solidFill>
              </a:rPr>
              <a:t>4.  Orbits in spherical &amp; axisymmetric potentials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E8E8E8"/>
                </a:solidFill>
              </a:rPr>
              <a:t>5.  Phase space – surfaces of section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E8E8E8"/>
                </a:solidFill>
              </a:rPr>
              <a:t>6.  Orbits in non-axisymmetric potentials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E8E8E8"/>
                </a:solidFill>
              </a:rPr>
              <a:t>7.  Action–angle variables and orbital tori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E8E8E8"/>
                </a:solidFill>
              </a:rPr>
              <a:t>8.  Adiabatic invariance of actions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E8E8E8"/>
                </a:solidFill>
              </a:rPr>
              <a:t>9.  Hamiltonian perturbation theory &amp; KAM theorem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E8E8E8"/>
                </a:solidFill>
              </a:rPr>
              <a:t>10. Poincaré sections – mixed phase space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E8E8E8"/>
                </a:solidFill>
              </a:rPr>
              <a:t>11. Lyapunov exponents &amp; frequency analysis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E8E8E8"/>
                </a:solidFill>
              </a:rPr>
              <a:t>12. Summary and outlook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88888"/>
                </a:solidFill>
              </a:rPr>
              <a:t>2 / 22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8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D700"/>
                </a:solidFill>
              </a:rPr>
              <a:t>Hierarchical Structure of the Universe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1323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7BD3EA"/>
                </a:solidFill>
              </a:rPr>
              <a:t>From quantum fluctuations to the cosmic web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43000"/>
            <a:ext cx="6858000" cy="44499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0" y="1143000"/>
            <a:ext cx="4572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E8E8E8"/>
                </a:solidFill>
              </a:rPr>
              <a:t>•  Planets / Stars:  10⁻³ – 10³ AU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E8E8E8"/>
                </a:solidFill>
              </a:rPr>
              <a:t>•  Star clusters:    1 – 100 pc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E8E8E8"/>
                </a:solidFill>
              </a:rPr>
              <a:t>•  Galaxies:         1 – 100 kpc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E8E8E8"/>
                </a:solidFill>
              </a:rPr>
              <a:t>•  Galaxy groups:    1 – 3 Mpc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E8E8E8"/>
                </a:solidFill>
              </a:rPr>
              <a:t>•  Galaxy clusters:  1 – 10 Mpc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E8E8E8"/>
                </a:solidFill>
              </a:rPr>
              <a:t>•  Superclusters / Filaments:  10 – 100 Mpc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E8E8E8"/>
                </a:solidFill>
              </a:rPr>
              <a:t>•  Observable Universe:  ~ 28 Gpc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E8E8E8"/>
                </a:solidFill>
              </a:rPr>
              <a:t>•  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E8E8E8"/>
                </a:solidFill>
              </a:rPr>
              <a:t>•  Dark matter drives structure growth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E8E8E8"/>
                </a:solidFill>
              </a:rPr>
              <a:t>      •  ΛCDM: P(k) ∝ kⁿ·T²(k),  n ≈ 0.96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88888"/>
                </a:solidFill>
              </a:rPr>
              <a:t>3 / 22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8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D700"/>
                </a:solidFill>
              </a:rPr>
              <a:t>What is a Galaxy?  Main Components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1323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7BD3EA"/>
                </a:solidFill>
              </a:rPr>
              <a:t>Bulge · Disk · Bar · Spiral Arms · Halo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6583680" cy="407672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40880" y="1097280"/>
            <a:ext cx="48463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E8E8E8"/>
                </a:solidFill>
              </a:rPr>
              <a:t>•  Disk: M_disk ~ 5×10¹⁰ M☉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E8E8E8"/>
                </a:solidFill>
              </a:rPr>
              <a:t>      •  Exponential profile: Σ(R) = Σ₀ exp(-R/h_R)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E8E8E8"/>
                </a:solidFill>
              </a:rPr>
              <a:t>      •  h_R ≈ 2–4 kpc (Milky Way: h_R ≈ 2.6 kpc)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E8E8E8"/>
                </a:solidFill>
              </a:rPr>
              <a:t>•  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E8E8E8"/>
                </a:solidFill>
              </a:rPr>
              <a:t>•  Bulge: r_eff ~ 1–2 kpc, Sérsic n≈4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E8E8E8"/>
                </a:solidFill>
              </a:rPr>
              <a:t>•  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E8E8E8"/>
                </a:solidFill>
              </a:rPr>
              <a:t>•  Bar: ℓ_bar ~ 3–5 kpc, pattern speed Ωₚ ~ 30–60 km/s/kpc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E8E8E8"/>
                </a:solidFill>
              </a:rPr>
              <a:t>•  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E8E8E8"/>
                </a:solidFill>
              </a:rPr>
              <a:t>•  DM Halo: M_halo ~ 10¹² M☉, r_vir ~ 200 kpc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E8E8E8"/>
                </a:solidFill>
              </a:rPr>
              <a:t>      •  NFW profile: ρ(r) = ρ_s / [(r/r_s)(1+r/r_s)²]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E8E8E8"/>
                </a:solidFill>
              </a:rPr>
              <a:t>•  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E8E8E8"/>
                </a:solidFill>
              </a:rPr>
              <a:t>•  Total luminosity: L ~ 10⁹ – 10¹¹ L☉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E8E8E8"/>
                </a:solidFill>
              </a:rPr>
              <a:t>•  Typical T_eff (stars): 3,000 – 50,000 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88888"/>
                </a:solidFill>
              </a:rPr>
              <a:t>4 / 22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8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D700"/>
                </a:solidFill>
              </a:rPr>
              <a:t>Galaxy Classification: The Hubble Tuning Fork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1323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7BD3EA"/>
                </a:solidFill>
              </a:rPr>
              <a:t>Morphological sequence from ellipticals to late spirals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7772400" cy="423064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0" y="1097280"/>
            <a:ext cx="3749039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E8E8E8"/>
                </a:solidFill>
              </a:rPr>
              <a:t>•  Ellipticals (E0–E7):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E8E8E8"/>
                </a:solidFill>
              </a:rPr>
              <a:t>      •  Spheroidal, old red stars, little gas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E8E8E8"/>
                </a:solidFill>
              </a:rPr>
              <a:t>      •  M_* up to ~ 10¹³ M☉  (cD giants)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E8E8E8"/>
                </a:solidFill>
              </a:rPr>
              <a:t>•  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E8E8E8"/>
                </a:solidFill>
              </a:rPr>
              <a:t>•  Lenticulars (S0):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E8E8E8"/>
                </a:solidFill>
              </a:rPr>
              <a:t>      •  Disk without spiral arms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E8E8E8"/>
                </a:solidFill>
              </a:rPr>
              <a:t>•  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E8E8E8"/>
                </a:solidFill>
              </a:rPr>
              <a:t>•  Spirals (Sa→Sc  /  SBa→SBc):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E8E8E8"/>
                </a:solidFill>
              </a:rPr>
              <a:t>      •  Increasing arm openness, gas fraction,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E8E8E8"/>
                </a:solidFill>
              </a:rPr>
              <a:t>      •  and star formation rate along sequence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E8E8E8"/>
                </a:solidFill>
              </a:rPr>
              <a:t>•  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E8E8E8"/>
                </a:solidFill>
              </a:rPr>
              <a:t>•  Irregulars (Irr): disturbed, star-forming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E8E8E8"/>
                </a:solidFill>
              </a:rPr>
              <a:t>•  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E8E8E8"/>
                </a:solidFill>
              </a:rPr>
              <a:t>•  ★ de Vaucouleurs (1959) extended to RC3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88888"/>
                </a:solidFill>
              </a:rPr>
              <a:t>5 / 22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8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D700"/>
                </a:solidFill>
              </a:rPr>
              <a:t>Orbits in Static Spherical Potentials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1323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7BD3EA"/>
                </a:solidFill>
              </a:rPr>
              <a:t>Conservation of energy E and angular momentum L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43000"/>
            <a:ext cx="4754880" cy="51308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212080" y="1143000"/>
            <a:ext cx="6675120" cy="2286000"/>
          </a:xfrm>
          <a:prstGeom prst="rect">
            <a:avLst/>
          </a:prstGeom>
          <a:noFill/>
          <a:ln w="12700">
            <a:solidFill>
              <a:srgbClr val="A8FF78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A8FF78"/>
                </a:solidFill>
              </a:rPr>
              <a:t>Effective potential:  Φ_eff(r) = Φ(r) + L²/(2r²)
Radial equation:   r̈ = −dΦ_eff/dr
Apsidal angle:  Δφ = π  ⟹  closed orbit
               Δφ ≠ π  ⟹  rosette orbit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80" y="3566160"/>
            <a:ext cx="66751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E8E8E8"/>
                </a:solidFill>
              </a:rPr>
              <a:t>•  Isochrone potential: all bound orbits are closed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E8E8E8"/>
                </a:solidFill>
              </a:rPr>
              <a:t>•  Logarithmic: V_c = const  →  flat rotation curve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E8E8E8"/>
                </a:solidFill>
              </a:rPr>
              <a:t>      •  Φ(r) = V_c² ln(r)  +  const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E8E8E8"/>
                </a:solidFill>
              </a:rPr>
              <a:t>•  Hernquist/NFW: closed only for circular &amp; radial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E8E8E8"/>
                </a:solidFill>
              </a:rPr>
              <a:t>•  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E8E8E8"/>
                </a:solidFill>
              </a:rPr>
              <a:t>•  Two integrals of motion: E, Lz  (3rd may exist)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E8E8E8"/>
                </a:solidFill>
              </a:rPr>
              <a:t>•  Orbit families: loop, box (radial), tube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88888"/>
                </a:solidFill>
              </a:rPr>
              <a:t>6 / 22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8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D700"/>
                </a:solidFill>
              </a:rPr>
              <a:t>Orbits in Axisymmetric Potentials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1323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7BD3EA"/>
                </a:solidFill>
              </a:rPr>
              <a:t>Meridional plane, third integral, epicycle theory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43000"/>
            <a:ext cx="6858000" cy="3657600"/>
          </a:xfrm>
          <a:prstGeom prst="rect">
            <a:avLst/>
          </a:prstGeom>
          <a:noFill/>
          <a:ln w="12700">
            <a:solidFill>
              <a:srgbClr val="A8FF78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A8FF78"/>
                </a:solidFill>
              </a:rPr>
              <a:t>Φ(R,z)  ⟹  Integrals: E,  Lz,  (I₃ approximate)
Meridional plane:  R̈ = −∂Φ_eff/∂R,   z̈ = −∂Φ/∂z
  Φ_eff(R,z) = Φ(R,z) + Lz²/(2R²)
Epicycle approximation  (R ≈ R_g + x,  |x|≪R_g):
  ẍ = −κ²x,   z̈ = −ν²z
  κ² = R dΩ²/dR + 4Ω²  (epicycle freq.)
  ν² = ∂²Φ/∂z²|_z=0   (vertical freq.)
  For flat rotation curve:  κ = √2 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06640" y="1143000"/>
            <a:ext cx="4572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E8E8E8"/>
                </a:solidFill>
              </a:rPr>
              <a:t>•  Lindblad resonances: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E8E8E8"/>
                </a:solidFill>
              </a:rPr>
              <a:t>      •  ILR: Ω − κ/m = Ωₚ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E8E8E8"/>
                </a:solidFill>
              </a:rPr>
              <a:t>      •  OLR: Ω + κ/m = Ωₚ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E8E8E8"/>
                </a:solidFill>
              </a:rPr>
              <a:t>      •  CR:  Ω = Ωₚ  (corotation)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E8E8E8"/>
                </a:solidFill>
              </a:rPr>
              <a:t>•  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E8E8E8"/>
                </a:solidFill>
              </a:rPr>
              <a:t>•  Stars near corotation trapped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E8E8E8"/>
                </a:solidFill>
              </a:rPr>
              <a:t>•  in horseshoe orbits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E8E8E8"/>
                </a:solidFill>
              </a:rPr>
              <a:t>•  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E8E8E8"/>
                </a:solidFill>
              </a:rPr>
              <a:t>•  3rd integral I₃ ≈ action Jz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E8E8E8"/>
                </a:solidFill>
              </a:rPr>
              <a:t>•  (Stäckel potentials exact)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E8E8E8"/>
                </a:solidFill>
              </a:rPr>
              <a:t>•  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E8E8E8"/>
                </a:solidFill>
              </a:rPr>
              <a:t>•  ► Oort constants A, B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E8E8E8"/>
                </a:solidFill>
              </a:rPr>
              <a:t>      •  A = −½(dv_c/dR)R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E8E8E8"/>
                </a:solidFill>
              </a:rPr>
              <a:t>      •  B = −Ω −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02920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F6B6B"/>
                </a:solidFill>
              </a:rPr>
              <a:t>⚡ Animation: orbit in (R,z) meridional plane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88888"/>
                </a:solidFill>
              </a:rPr>
              <a:t>7 / 22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8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D700"/>
                </a:solidFill>
              </a:rPr>
              <a:t>Phase Space and Surfaces of Section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1323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7BD3EA"/>
                </a:solidFill>
              </a:rPr>
              <a:t>Reducing dimensionality by 2 — Poincaré map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5669280" cy="515522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126480" y="1097280"/>
            <a:ext cx="585216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E8E8E8"/>
                </a:solidFill>
              </a:rPr>
              <a:t>•  2-DOF Hamiltonian: 4D phase space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E8E8E8"/>
                </a:solidFill>
              </a:rPr>
              <a:t>•  Energy surface:  3D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E8E8E8"/>
                </a:solidFill>
              </a:rPr>
              <a:t>•  Poincaré section (x=0, ṗₓ&gt;0): 2D map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E8E8E8"/>
                </a:solidFill>
              </a:rPr>
              <a:t>•  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E8E8E8"/>
                </a:solidFill>
              </a:rPr>
              <a:t>•  Regular orbits → closed curves (KAM tori)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E8E8E8"/>
                </a:solidFill>
              </a:rPr>
              <a:t>•  Resonant orbits → finite point sets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E8E8E8"/>
                </a:solidFill>
              </a:rPr>
              <a:t>•  Chaotic orbits → scattered points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E8E8E8"/>
                </a:solidFill>
              </a:rPr>
              <a:t>•  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E8E8E8"/>
                </a:solidFill>
              </a:rPr>
              <a:t>•  Example: Hénon–Heiles potential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E8E8E8"/>
                </a:solidFill>
              </a:rPr>
              <a:t>      •  H = ½(px²+py²) + ½(x²+y²)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E8E8E8"/>
                </a:solidFill>
              </a:rPr>
              <a:t>      •  + x²y − ⅓y³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E8E8E8"/>
                </a:solidFill>
              </a:rPr>
              <a:t>•  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E8E8E8"/>
                </a:solidFill>
              </a:rPr>
              <a:t>•  At low E: mostly regular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E8E8E8"/>
                </a:solidFill>
              </a:rPr>
              <a:t>•  At E → E_escape: mostly chaotic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E8E8E8"/>
                </a:solidFill>
              </a:rPr>
              <a:t>•  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E8E8E8"/>
                </a:solidFill>
              </a:rPr>
              <a:t>•  ★ Key diagnostic for galactic dynamics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88888"/>
                </a:solidFill>
              </a:rPr>
              <a:t>8 / 22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8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D700"/>
                </a:solidFill>
              </a:rPr>
              <a:t>Orbits in Non-Axisymmetric Potentials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1323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7BD3EA"/>
                </a:solidFill>
              </a:rPr>
              <a:t>Bars, triaxial ellipsoids, spiral perturbations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43000"/>
            <a:ext cx="6858000" cy="5029200"/>
          </a:xfrm>
          <a:prstGeom prst="rect">
            <a:avLst/>
          </a:prstGeom>
          <a:noFill/>
          <a:ln w="12700">
            <a:solidFill>
              <a:srgbClr val="A8FF78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A8FF78"/>
                </a:solidFill>
              </a:rPr>
              <a:t>Rotating frame (pattern speed Ωₚ):
  H = ½|v|² + Φ(x,y) − Ωₚ Lz  =  EJ  (Jacobi integral)
Barred potential (bisymmetric):
  Φ_bar(R,φ) = Φ_0(R) + Φ_2(R) cos(2φ)
Orbit families in a bar:
  x₁ – backbone, elongated along bar (stable)
  x₂, x₃ – perpendicular to bar
  x₄ – retrograde
Spiral arms: transient density waves
  Lin–Shu dispersion relation:
  (ω−mΩ)² = κ² − 2πGΣ|k|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06640" y="1143000"/>
            <a:ext cx="4572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E8E8E8"/>
                </a:solidFill>
              </a:rPr>
              <a:t>•  Corotation radius R_CR: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E8E8E8"/>
                </a:solidFill>
              </a:rPr>
              <a:t>      •  Ω(R_CR) = Ωₚ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E8E8E8"/>
                </a:solidFill>
              </a:rPr>
              <a:t>•  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E8E8E8"/>
                </a:solidFill>
              </a:rPr>
              <a:t>•  Bar resonances drive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E8E8E8"/>
                </a:solidFill>
              </a:rPr>
              <a:t>      •  secular angular momentum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E8E8E8"/>
                </a:solidFill>
              </a:rPr>
              <a:t>      •  exchange with halo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E8E8E8"/>
                </a:solidFill>
              </a:rPr>
              <a:t>•  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E8E8E8"/>
                </a:solidFill>
              </a:rPr>
              <a:t>•  Manifold theory: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E8E8E8"/>
                </a:solidFill>
              </a:rPr>
              <a:t>      •  unstable manifolds of L₁, L₂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E8E8E8"/>
                </a:solidFill>
              </a:rPr>
              <a:t>      •  trace spiral arms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E8E8E8"/>
                </a:solidFill>
              </a:rPr>
              <a:t>•  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E8E8E8"/>
                </a:solidFill>
              </a:rPr>
              <a:t>•  ⚡ Animation: x₁ family in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E8E8E8"/>
                </a:solidFill>
              </a:rPr>
              <a:t>      •  rotating bar potential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88888"/>
                </a:solidFill>
              </a:rPr>
              <a:t>9 / 22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8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D700"/>
                </a:solidFill>
              </a:rPr>
              <a:t>Action–Angle Variables &amp; Orbital Tori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1323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7BD3EA"/>
                </a:solidFill>
              </a:rPr>
              <a:t>The natural coordinates for integrable systems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5943600" cy="601816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0" y="1097280"/>
            <a:ext cx="5577840" cy="3840480"/>
          </a:xfrm>
          <a:prstGeom prst="rect">
            <a:avLst/>
          </a:prstGeom>
          <a:noFill/>
          <a:ln w="12700">
            <a:solidFill>
              <a:srgbClr val="A8FF78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A8FF78"/>
                </a:solidFill>
              </a:rPr>
              <a:t>Actions  (adiabatic invariants):
  Jᵢ = (1/2π) ∮ pᵢ dqᵢ
Angles  (conjugate variables):
  θ̇ᵢ = ∂H/∂Jᵢ = Ωᵢ(J) = const
  θᵢ(t) = θᵢ(0) + Ωᵢ t
Torus  T²  =  {(θ₁,θ₂) ∈ [0,2π)²}
For axisymmetric disk:
  J = (Jr, Lz, Jz)
  Ω = (κ, Ω_φ, ν)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5029200"/>
            <a:ext cx="5577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E8E8E8"/>
                </a:solidFill>
              </a:rPr>
              <a:t>•  Torus construction (McGill &amp; Binney 1990)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E8E8E8"/>
                </a:solidFill>
              </a:rPr>
              <a:t>•  Stäckel fudge (Binney 2012)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E8E8E8"/>
                </a:solidFill>
              </a:rPr>
              <a:t>      •  fast approximation for disk potentials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E8E8E8"/>
                </a:solidFill>
              </a:rPr>
              <a:t>•  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E8E8E8"/>
                </a:solidFill>
              </a:rPr>
              <a:t>•  Actions are constants of motion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E8E8E8"/>
                </a:solidFill>
              </a:rPr>
              <a:t>      •  → label orbit families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E8E8E8"/>
                </a:solidFill>
              </a:rPr>
              <a:t>      •  → natural basis for DFs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E8E8E8"/>
                </a:solidFill>
              </a:rPr>
              <a:t>      •  f = f(Jr, Lz, Jz)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88888"/>
                </a:solidFill>
              </a:rPr>
              <a:t>10 / 22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8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D700"/>
                </a:solidFill>
              </a:rPr>
              <a:t>Slowly Varying Potentials &amp; Adiabatic Invariance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1323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7BD3EA"/>
                </a:solidFill>
              </a:rPr>
              <a:t>Actions frozen when Φ changes on timescale τ ≫ T_orbit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3931920"/>
            <a:ext cx="8686800" cy="367663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1097280"/>
            <a:ext cx="11430000" cy="1645920"/>
          </a:xfrm>
          <a:prstGeom prst="rect">
            <a:avLst/>
          </a:prstGeom>
          <a:noFill/>
          <a:ln w="12700">
            <a:solidFill>
              <a:srgbClr val="A8FF78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A8FF78"/>
                </a:solidFill>
              </a:rPr>
              <a:t>Adiabatic invariant:  J = ∮ p dq / (2π)  = const
Simple harmonic:  J = E / ω  →  E ∝ ω  as ω changes slowly
Action change:  ΔJ / J  ~  exp(−ωτ)  ≪  1  (exponentially small)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83464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E8E8E8"/>
                </a:solidFill>
              </a:rPr>
              <a:t>•  Eccentric orbits in a growing disk: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E8E8E8"/>
                </a:solidFill>
              </a:rPr>
              <a:t>      •  Jz adiabatically frozen as disk mass increases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E8E8E8"/>
                </a:solidFill>
              </a:rPr>
              <a:t>      •  → 'heating' by non-adiabatic perturbations required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E8E8E8"/>
                </a:solidFill>
              </a:rPr>
              <a:t>•  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E8E8E8"/>
                </a:solidFill>
              </a:rPr>
              <a:t>•  Transient spiral perturbation: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E8E8E8"/>
                </a:solidFill>
              </a:rPr>
              <a:t>      •  If τ_spiral ≫ T_orbit: actions conserved → no net heating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E8E8E8"/>
                </a:solidFill>
              </a:rPr>
              <a:t>      •  If τ_spiral ~ T_orbit: stochastic heating (resonance)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E8E8E8"/>
                </a:solidFill>
              </a:rPr>
              <a:t>•  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E8E8E8"/>
                </a:solidFill>
              </a:rPr>
              <a:t>•  Slow growth of a central black hole: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E8E8E8"/>
                </a:solidFill>
              </a:rPr>
              <a:t>      •  MBH grows on Gyr timescale → Jr, Jz adiabatically conserved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E8E8E8"/>
                </a:solidFill>
              </a:rPr>
              <a:t>      •  Orbits shrink: Ω_r, Ω_z ↑  while J = const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88888"/>
                </a:solidFill>
              </a:rPr>
              <a:t>11 / 22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8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D700"/>
                </a:solidFill>
              </a:rPr>
              <a:t>Hamiltonian Perturbation Theory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1323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7BD3EA"/>
                </a:solidFill>
              </a:rPr>
              <a:t>Canonical perturbation theory in action–angle coordinates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43000"/>
            <a:ext cx="6858000" cy="3657600"/>
          </a:xfrm>
          <a:prstGeom prst="rect">
            <a:avLst/>
          </a:prstGeom>
          <a:noFill/>
          <a:ln w="12700">
            <a:solidFill>
              <a:srgbClr val="A8FF78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A8FF78"/>
                </a:solidFill>
              </a:rPr>
              <a:t>H(θ,J) = H₀(J) + εH₁(θ,J)
Generating function  S(θ,J') = θ·J' + εS₁(θ,J') + …
New Hamiltonian:
  H'(J') = H₀(J') + ε⟨H₁⟩ + O(ε²)
Resonance condition:  n·Ω(J) = 0   (small divisor problem)
Secular terms: ΔJ ∝ ε  at resonance  →  libration islands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06640" y="1143000"/>
            <a:ext cx="45720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E8E8E8"/>
                </a:solidFill>
              </a:rPr>
              <a:t>•  Spiral arm perturbation: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E8E8E8"/>
                </a:solidFill>
              </a:rPr>
              <a:t>      •  H₁ = −Φ_s(R) cos(mφ − ωt)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E8E8E8"/>
                </a:solidFill>
              </a:rPr>
              <a:t>      •  Corotation resonance: most important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E8E8E8"/>
                </a:solidFill>
              </a:rPr>
              <a:t>      •  ILR, OLR: wave reflection/transmission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E8E8E8"/>
                </a:solidFill>
              </a:rPr>
              <a:t>•  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E8E8E8"/>
                </a:solidFill>
              </a:rPr>
              <a:t>•  Bar perturbation (steady, m=2):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E8E8E8"/>
                </a:solidFill>
              </a:rPr>
              <a:t>      •  n·Ω = 0  ↔  ℓκ + mΩφ = mΩₚ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E8E8E8"/>
                </a:solidFill>
              </a:rPr>
              <a:t>      •  Resonances drive secular evolution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E8E8E8"/>
                </a:solidFill>
              </a:rPr>
              <a:t>•  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E8E8E8"/>
                </a:solidFill>
              </a:rPr>
              <a:t>•  Perturbation theory breaks down: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E8E8E8"/>
                </a:solidFill>
              </a:rPr>
              <a:t>      •  when ε is not small, OR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E8E8E8"/>
                </a:solidFill>
              </a:rPr>
              <a:t>      •  when resonances overlap (Chirikov)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E8E8E8"/>
                </a:solidFill>
              </a:rPr>
              <a:t>•  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E8E8E8"/>
                </a:solidFill>
              </a:rPr>
              <a:t>•  → KAM theorem gives conditions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E8E8E8"/>
                </a:solidFill>
              </a:rPr>
              <a:t>      •  for persistence of tori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88888"/>
                </a:solidFill>
              </a:rPr>
              <a:t>12 / 22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8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D700"/>
                </a:solidFill>
              </a:rPr>
              <a:t>KAM Theory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1323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7BD3EA"/>
                </a:solidFill>
              </a:rPr>
              <a:t>Kolmogorov–Arnold–Moser: survival of invariant tori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43000"/>
            <a:ext cx="11430000" cy="3017520"/>
          </a:xfrm>
          <a:prstGeom prst="rect">
            <a:avLst/>
          </a:prstGeom>
          <a:noFill/>
          <a:ln w="12700">
            <a:solidFill>
              <a:srgbClr val="A8FF78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A8FF78"/>
                </a:solidFill>
              </a:rPr>
              <a:t>KAM theorem (1954–1963):
  If H = H₀(J) + εH₁(θ,J),  H₀ non-degenerate,
  and the frequency vector Ω(J) satisfies
      |n · Ω(J)| &gt; γ / |n|^τ   for all n ∈ ℤ^N\{0}
  (Diophantine condition, γ&gt;0, τ&gt;N−1)
  then for ε &lt; ε_crit(γ,τ), the invariant torus survives.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297680"/>
            <a:ext cx="114300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E8E8E8"/>
                </a:solidFill>
              </a:rPr>
              <a:t>•  Most (positive-measure) tori survive small perturbations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E8E8E8"/>
                </a:solidFill>
              </a:rPr>
              <a:t>•  Resonant tori (n·Ω = 0) are destroyed → replaced by island chains + thin chaotic layers (Birkhoff–Poincaré)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E8E8E8"/>
                </a:solidFill>
              </a:rPr>
              <a:t>•  As ε increases, more tori break: Aubry–Mather theory (cantori)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E8E8E8"/>
                </a:solidFill>
              </a:rPr>
              <a:t>•  Last KAM torus at ε = ε_crit separates inner regular from outer chaotic region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E8E8E8"/>
                </a:solidFill>
              </a:rPr>
              <a:t>•  Nekhoroshev theorem: action diffusion exponentially slow for non-resonant orbits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E8E8E8"/>
                </a:solidFill>
              </a:rPr>
              <a:t>•  Galactic application: disk stars mostly on KAM tori; bar pushes orbits toward chaos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88888"/>
                </a:solidFill>
              </a:rPr>
              <a:t>13 / 22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8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D700"/>
                </a:solidFill>
              </a:rPr>
              <a:t>Poincaré Sections: Mixed Phase Space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1323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7BD3EA"/>
                </a:solidFill>
              </a:rPr>
              <a:t>KAM tori · Resonance islands · Chaotic layers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5486400" cy="532503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43600" y="1097280"/>
            <a:ext cx="603504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E8E8E8"/>
                </a:solidFill>
              </a:rPr>
              <a:t>•  As energy E → E_escape: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E8E8E8"/>
                </a:solidFill>
              </a:rPr>
              <a:t>      •  Regular ↔ Resonance island chains ↔ Chaotic sea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E8E8E8"/>
                </a:solidFill>
              </a:rPr>
              <a:t>•  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E8E8E8"/>
                </a:solidFill>
              </a:rPr>
              <a:t>•  Island chains (Birkhoff chains):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E8E8E8"/>
                </a:solidFill>
              </a:rPr>
              <a:t>      •  p:q resonance  →  p stable + p unstable fixed pts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E8E8E8"/>
                </a:solidFill>
              </a:rPr>
              <a:t>      •  Each stable pt surrounded by sub-islands (self-similar)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E8E8E8"/>
                </a:solidFill>
              </a:rPr>
              <a:t>•  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E8E8E8"/>
                </a:solidFill>
              </a:rPr>
              <a:t>•  Chaotic bands: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E8E8E8"/>
                </a:solidFill>
              </a:rPr>
              <a:t>      •  Thin near separatrices of resonances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E8E8E8"/>
                </a:solidFill>
              </a:rPr>
              <a:t>      •  Merge at high E → large chaotic sea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E8E8E8"/>
                </a:solidFill>
              </a:rPr>
              <a:t>•  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E8E8E8"/>
                </a:solidFill>
              </a:rPr>
              <a:t>•  Arnold diffusion (N≥3 DOF):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E8E8E8"/>
                </a:solidFill>
              </a:rPr>
              <a:t>      •  Slow drift along resonance web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E8E8E8"/>
                </a:solidFill>
              </a:rPr>
              <a:t>      •  Timescale ~ exp(1/ε)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E8E8E8"/>
                </a:solidFill>
              </a:rPr>
              <a:t>•  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E8E8E8"/>
                </a:solidFill>
              </a:rPr>
              <a:t>•  Galaxy implications: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E8E8E8"/>
                </a:solidFill>
              </a:rPr>
              <a:t>      •  Chaotic orbits → box-orbit heating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E8E8E8"/>
                </a:solidFill>
              </a:rPr>
              <a:t>      •  → affect bar slow-down, disk thickening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88888"/>
                </a:solidFill>
              </a:rPr>
              <a:t>14 / 22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8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D700"/>
                </a:solidFill>
              </a:rPr>
              <a:t>Chaotic Orbits in Barred Galaxies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1323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7BD3EA"/>
                </a:solidFill>
              </a:rPr>
              <a:t>Sticky orbits, stochastic heating, and secular evolution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43000"/>
            <a:ext cx="11430000" cy="2286000"/>
          </a:xfrm>
          <a:prstGeom prst="rect">
            <a:avLst/>
          </a:prstGeom>
          <a:noFill/>
          <a:ln w="12700">
            <a:solidFill>
              <a:srgbClr val="A8FF78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A8FF78"/>
                </a:solidFill>
              </a:rPr>
              <a:t>Jacobi energy:  EJ = ½v² + Φ_eff − ΩₚLz = const (rotating frame)
Zero-velocity curve:  EJ = Φ_eff(R,φ)
Lagrange points L₁, L₂, L₃, L₄, L₅
Orbits with EJ &gt; Φ(L₁,₂) can escape bar region
→ 'Sticky' chaotic orbits linger near remnants of KAM tori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3566160"/>
            <a:ext cx="114300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E8E8E8"/>
                </a:solidFill>
              </a:rPr>
              <a:t>•  Sticky orbits: chaotic but quasi-regular for ~ Gyr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E8E8E8"/>
                </a:solidFill>
              </a:rPr>
              <a:t>      •  Mimic regular x₁ family → populate bar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E8E8E8"/>
                </a:solidFill>
              </a:rPr>
              <a:t>•  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E8E8E8"/>
                </a:solidFill>
              </a:rPr>
              <a:t>•  Bar slow-down via halo resonance: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E8E8E8"/>
                </a:solidFill>
              </a:rPr>
              <a:t>      •  Trapped orbits exchange angular momentum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E8E8E8"/>
                </a:solidFill>
              </a:rPr>
              <a:t>      •  dL/dt ∝ ∂f/∂E at resonance (Tremaine–Weinberg)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E8E8E8"/>
                </a:solidFill>
              </a:rPr>
              <a:t>•  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E8E8E8"/>
                </a:solidFill>
              </a:rPr>
              <a:t>•  SALI / GALI indicators (Skokos 2001, 2007):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E8E8E8"/>
                </a:solidFill>
              </a:rPr>
              <a:t>      •  Quickly distinguish regular from chaotic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E8E8E8"/>
                </a:solidFill>
              </a:rPr>
              <a:t>      •  SALI → 0 exponentially for chaotic orbits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E8E8E8"/>
                </a:solidFill>
              </a:rPr>
              <a:t>      •  SALI → const &gt; 0 for regular orbits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E8E8E8"/>
                </a:solidFill>
              </a:rPr>
              <a:t>•  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E8E8E8"/>
                </a:solidFill>
              </a:rPr>
              <a:t>•  N-body simulations confirm ~20% chaotic orbits in bar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88888"/>
                </a:solidFill>
              </a:rPr>
              <a:t>15 / 22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8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D700"/>
                </a:solidFill>
              </a:rPr>
              <a:t>Lyapunov Exponents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1323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7BD3EA"/>
                </a:solidFill>
              </a:rPr>
              <a:t>Quantifying sensitivity to initial conditions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3931920"/>
            <a:ext cx="8686800" cy="365054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1143000"/>
            <a:ext cx="11430000" cy="2560320"/>
          </a:xfrm>
          <a:prstGeom prst="rect">
            <a:avLst/>
          </a:prstGeom>
          <a:noFill/>
          <a:ln w="12700">
            <a:solidFill>
              <a:srgbClr val="A8FF78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A8FF78"/>
                </a:solidFill>
              </a:rPr>
              <a:t>Maximal Lyapunov exponent (MLE):
  λ₁ = lim_{t→∞}  (1/t) ln ‖δw(t)‖ / ‖δw(0)‖
  Regular orbit:   λ₁ = 0  (power-law divergence)
  Chaotic orbit:   λ₁ &gt; 0  (exponential divergence)
Full spectrum:  λ₁ ≥ λ₂ ≥ … ≥ λ_{2N}
  Σ λᵢ = 0  (Hamiltonian, Liouville)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4612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E8E8E8"/>
                </a:solidFill>
              </a:rPr>
              <a:t>•  Numerical methods: tangent map integration alongside orbit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E8E8E8"/>
                </a:solidFill>
              </a:rPr>
              <a:t>•  Typical values: λ₁ ~ 0.1–1 Gyr⁻¹ for chaotic galactic orbits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E8E8E8"/>
                </a:solidFill>
              </a:rPr>
              <a:t>•  Lyapunov time: t_L = 1/λ₁ ~ 1–10 Gyr  (comparable to Hubble time!)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88888"/>
                </a:solidFill>
              </a:rPr>
              <a:t>16 / 22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8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D700"/>
                </a:solidFill>
              </a:rPr>
              <a:t>Frequency Analysis Methods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1323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7BD3EA"/>
                </a:solidFill>
              </a:rPr>
              <a:t>Laskar's NAFF, frequency maps, and the web of resonances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5486400" cy="454988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43600" y="1097280"/>
            <a:ext cx="6035040" cy="3200400"/>
          </a:xfrm>
          <a:prstGeom prst="rect">
            <a:avLst/>
          </a:prstGeom>
          <a:noFill/>
          <a:ln w="12700">
            <a:solidFill>
              <a:srgbClr val="A8FF78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A8FF78"/>
                </a:solidFill>
              </a:rPr>
              <a:t>NAFF – Numerical Analysis of Fundamental Frequencies
(Laskar 1990, 1993):
  From time series x(t), find dominant frequency ω₁ s.t.
  ∫₀ᵀ x(t) e^{−iω₁t} χ(t) dt  is maximised
  Repeat on residual to get ω₂, ω₃, …
Diffusion rate:  σ = |Ω(t₁) − Ω(t₂)| / T  → 0 for regular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4389120"/>
            <a:ext cx="60350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E8E8E8"/>
                </a:solidFill>
              </a:rPr>
              <a:t>•  Frequency map: plot (Ω₁/Ωₚ, Ω₂/Ωₚ) for ensemble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E8E8E8"/>
                </a:solidFill>
              </a:rPr>
              <a:t>•  Regular orbits → sharp curves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E8E8E8"/>
                </a:solidFill>
              </a:rPr>
              <a:t>•  Chaotic orbits → diffuse scatter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E8E8E8"/>
                </a:solidFill>
              </a:rPr>
              <a:t>•  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E8E8E8"/>
                </a:solidFill>
              </a:rPr>
              <a:t>•  Identifies resonances as dense lines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E8E8E8"/>
                </a:solidFill>
              </a:rPr>
              <a:t>      •  n₁Ω₁ + n₂Ω₂ + n₃Ωₚ = 0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E8E8E8"/>
                </a:solidFill>
              </a:rPr>
              <a:t>•  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E8E8E8"/>
                </a:solidFill>
              </a:rPr>
              <a:t>•  Applied to: triaxial ellipticals (Valluri),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E8E8E8"/>
                </a:solidFill>
              </a:rPr>
              <a:t>      •  barred disk galaxies (Quillen, Minchev)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E8E8E8"/>
                </a:solidFill>
              </a:rPr>
              <a:t>      •  N-body simulations (Voglis, Contopoulos)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88888"/>
                </a:solidFill>
              </a:rPr>
              <a:t>17 / 22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8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D700"/>
                </a:solidFill>
              </a:rPr>
              <a:t>Self-Consistent Models &amp; Distribution Functions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1323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7BD3EA"/>
                </a:solidFill>
              </a:rPr>
              <a:t>Closing the loop: orbits ↔ potential ↔ density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43000"/>
            <a:ext cx="11430000" cy="2743200"/>
          </a:xfrm>
          <a:prstGeom prst="rect">
            <a:avLst/>
          </a:prstGeom>
          <a:noFill/>
          <a:ln w="12700">
            <a:solidFill>
              <a:srgbClr val="A8FF78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A8FF78"/>
                </a:solidFill>
              </a:rPr>
              <a:t>Collisionless Boltzmann equation (CBE):
  ∂f/∂t + v·∇f − ∇Φ·∂f/∂v = 0
Jeans theorem: any function of integrals of motion solves CBE
  f = f(E, Lz, I₃)  for axisymmetric system
Self-consistency: ρ(x) = ∫ f dv³  →  ∇²Φ = 4πGρ
Action-based DFs:  f = f(Jr, Lz, Jz)  (Binney &amp; McMillan 2011)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023360"/>
            <a:ext cx="11430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E8E8E8"/>
                </a:solidFill>
              </a:rPr>
              <a:t>•  Dehnen–Binney (1998): f(E, Lz) for disk + bulge + halo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E8E8E8"/>
                </a:solidFill>
              </a:rPr>
              <a:t>•  Posti et al. (2015): action DF for NFW halo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E8E8E8"/>
                </a:solidFill>
              </a:rPr>
              <a:t>•  Bovy et al. (2013): mono-abundance populations → disk DFs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E8E8E8"/>
                </a:solidFill>
              </a:rPr>
              <a:t>•  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E8E8E8"/>
                </a:solidFill>
              </a:rPr>
              <a:t>•  Jeans equations: ∂(ρ⟨vᵢvⱼ⟩)/∂xⱼ = −ρ ∂Φ/∂xᵢ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E8E8E8"/>
                </a:solidFill>
              </a:rPr>
              <a:t>      •  Used in mass modelling (Gaia + spectroscopy)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E8E8E8"/>
                </a:solidFill>
              </a:rPr>
              <a:t>•  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E8E8E8"/>
                </a:solidFill>
              </a:rPr>
              <a:t>•  ★ Observable: proper motions (Gaia DR3), RVS radial velocities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E8E8E8"/>
                </a:solidFill>
              </a:rPr>
              <a:t>      •  → test action-based DFs directly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88888"/>
                </a:solidFill>
              </a:rPr>
              <a:t>18 / 22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8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D700"/>
                </a:solidFill>
              </a:rPr>
              <a:t>Observational Diagnostics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1323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7BD3EA"/>
                </a:solidFill>
              </a:rPr>
              <a:t>Connecting theory to data: Gaia, APOGEE, IFU surveys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43000"/>
            <a:ext cx="566928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E8E8E8"/>
                </a:solidFill>
              </a:rPr>
              <a:t>•  Gaia DR3 (2022):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E8E8E8"/>
                </a:solidFill>
              </a:rPr>
              <a:t>      •  1.5 × 10⁹ stars with 5-6D phase space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E8E8E8"/>
                </a:solidFill>
              </a:rPr>
              <a:t>      •  Reveals: moving groups, phase spirals,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E8E8E8"/>
                </a:solidFill>
              </a:rPr>
              <a:t>      •  bar resonances in velocity space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E8E8E8"/>
                </a:solidFill>
              </a:rPr>
              <a:t>•  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E8E8E8"/>
                </a:solidFill>
              </a:rPr>
              <a:t>•  APOGEE / GALAH surveys: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E8E8E8"/>
                </a:solidFill>
              </a:rPr>
              <a:t>      •  Chemical abundances → chemodynamical DF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E8E8E8"/>
                </a:solidFill>
              </a:rPr>
              <a:t>•  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E8E8E8"/>
                </a:solidFill>
              </a:rPr>
              <a:t>•  IFU spectroscopy (MaNGA, SAMI, MUSE):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E8E8E8"/>
                </a:solidFill>
              </a:rPr>
              <a:t>      •  Velocity fields of external galaxies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E8E8E8"/>
                </a:solidFill>
              </a:rPr>
              <a:t>      •  Bar pattern speeds via Tremaine–Weinberg method: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E8E8E8"/>
                </a:solidFill>
              </a:rPr>
              <a:t>      •  Ωₚ sin i = ∫ Σ V dx / ∫ Σ x dx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143000"/>
            <a:ext cx="57607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E8E8E8"/>
                </a:solidFill>
              </a:rPr>
              <a:t>•  N-body + SPH simulations: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E8E8E8"/>
                </a:solidFill>
              </a:rPr>
              <a:t>      •  GADGET-4, AREPO, AGORA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E8E8E8"/>
                </a:solidFill>
              </a:rPr>
              <a:t>      •  Track orbit families over Gyr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E8E8E8"/>
                </a:solidFill>
              </a:rPr>
              <a:t>•  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E8E8E8"/>
                </a:solidFill>
              </a:rPr>
              <a:t>•  Frequency analysis of N-body: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E8E8E8"/>
                </a:solidFill>
              </a:rPr>
              <a:t>      •  Identify resonance trapping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E8E8E8"/>
                </a:solidFill>
              </a:rPr>
              <a:t>      •  Bar slow-down rate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E8E8E8"/>
                </a:solidFill>
              </a:rPr>
              <a:t>•  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E8E8E8"/>
                </a:solidFill>
              </a:rPr>
              <a:t>•  Chaos fraction vs galaxy type: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E8E8E8"/>
                </a:solidFill>
              </a:rPr>
              <a:t>      •  Strongly barred → more chaos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E8E8E8"/>
                </a:solidFill>
              </a:rPr>
              <a:t>      •  Merger remnants → triaxial, chaotic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E8E8E8"/>
                </a:solidFill>
              </a:rPr>
              <a:t>•  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E8E8E8"/>
                </a:solidFill>
              </a:rPr>
              <a:t>•  ★ Phase spiral (Antoja 2018):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E8E8E8"/>
                </a:solidFill>
              </a:rPr>
              <a:t>      •  Incomplete phase-mixing → GMC/Sgr?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88888"/>
                </a:solidFill>
              </a:rPr>
              <a:t>19 / 22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8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D700"/>
                </a:solidFill>
              </a:rPr>
              <a:t>Open Questions &amp; Current Frontiers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1323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7BD3EA"/>
                </a:solidFill>
              </a:rPr>
              <a:t>Where stellar dynamics meets cosmology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43000"/>
            <a:ext cx="114300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E8E8E8"/>
                </a:solidFill>
              </a:rPr>
              <a:t>❯  1.  Origin of the Milky Way's long bar and its current pattern speed (~ 39 km/s/kpc)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E8E8E8"/>
                </a:solidFill>
              </a:rPr>
              <a:t>❯  2.  Role of chaotic orbits in bar slow-down: N-body vs. secular theory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E8E8E8"/>
                </a:solidFill>
              </a:rPr>
              <a:t>❯  3.  Dark matter substructure: granular potential fluctuations → heating &amp; diffusion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E8E8E8"/>
                </a:solidFill>
              </a:rPr>
              <a:t>❯  4.  Phase-space spirals (Gaia): quantifying timescale of perturbation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E8E8E8"/>
                </a:solidFill>
              </a:rPr>
              <a:t>❯  5.  Action diffusion across resonances: Fokker–Planck approach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E8E8E8"/>
                </a:solidFill>
              </a:rPr>
              <a:t>❯  6.  Torus construction beyond integrable backgrounds (angle maps in N-body)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E8E8E8"/>
                </a:solidFill>
              </a:rPr>
              <a:t>❯  7.  Machine-learning orbit classification (Neural network surrogates for NAFF)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E8E8E8"/>
                </a:solidFill>
              </a:rPr>
              <a:t>❯  8.  Connecting stellar dynamics to chemical evolution (chemodynamical torus models)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E8E8E8"/>
                </a:solidFill>
              </a:rPr>
              <a:t>❯  9.  Stellar streams as dynamical tracers of the DM halo shape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E8E8E8"/>
                </a:solidFill>
              </a:rPr>
              <a:t>❯  10. Relativistic corrections near the central black hole: post-Newtonian dynamics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88888"/>
                </a:solidFill>
              </a:rPr>
              <a:t>20 / 22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8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D700"/>
                </a:solidFill>
              </a:rP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1323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7BD3EA"/>
                </a:solidFill>
              </a:rPr>
              <a:t>Key take-home messages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43000"/>
            <a:ext cx="11430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700">
                <a:solidFill>
                  <a:srgbClr val="E8E8E8"/>
                </a:solidFill>
              </a:rPr>
              <a:t>•  Galaxies are hierarchical structures: bulge, disk, bar, halo each with distinct dynamics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E8E8E8"/>
                </a:solidFill>
              </a:rPr>
              <a:t>•  Orbits in integrable potentials are confined to invariant tori characterised by actions J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E8E8E8"/>
                </a:solidFill>
              </a:rPr>
              <a:t>•  Action–angle variables are the natural language for Hamiltonian dynamics in galaxies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E8E8E8"/>
                </a:solidFill>
              </a:rPr>
              <a:t>•  Adiabatic invariance: slowly-evolving potentials preserve actions → secular evolution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E8E8E8"/>
                </a:solidFill>
              </a:rPr>
              <a:t>•  KAM theorem: most invariant tori survive small perturbations; resonant ones break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E8E8E8"/>
                </a:solidFill>
              </a:rPr>
              <a:t>•  Poincaré sections reveal the mixed phase space: regular islands ↔ chaotic sea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E8E8E8"/>
                </a:solidFill>
              </a:rPr>
              <a:t>•  Lyapunov exponents and frequency analysis quantify and classify orbital chaos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E8E8E8"/>
                </a:solidFill>
              </a:rPr>
              <a:t>•  Gaia + IFU surveys provide unprecedented tests of theoretical orbit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394960"/>
            <a:ext cx="114300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AAAAAA"/>
                </a:solidFill>
              </a:rPr>
              <a:t>Recommended reading:
• Binney &amp; Tremaine, Galactic Dynamics (2008)   • Contopoulos, Order and Chaos in Dynamical Astronomy (2002)
• Laskar, Icarus 88 (1990)   • Skokos, Lecture Notes in Physics 790 (2010)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88888"/>
                </a:solidFill>
              </a:rPr>
              <a:t>21 / 22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8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FFD700"/>
                </a:solidFill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461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1">
                <a:solidFill>
                  <a:srgbClr val="7BD3EA"/>
                </a:solidFill>
              </a:rPr>
              <a:t>Questions &amp;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572000"/>
            <a:ext cx="8503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888888"/>
                </a:solidFill>
              </a:rPr>
              <a:t>"The most beautiful thing we can experience is the mysterious.
It is the source of all true art and science."
— Albert Einstein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88888"/>
                </a:solidFill>
              </a:rPr>
              <a:t>22 / 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